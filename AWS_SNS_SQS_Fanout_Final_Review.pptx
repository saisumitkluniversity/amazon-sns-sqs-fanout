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548640"/>
            <a:ext cx="1325880" cy="1325880"/>
          </a:xfrm>
          <a:prstGeom prst="ellipse">
            <a:avLst/>
          </a:prstGeom>
          <a:solidFill>
            <a:srgbClr val="15253F"/>
          </a:solidFill>
          <a:ln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1508760"/>
            <a:ext cx="640080" cy="64008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2011680"/>
            <a:ext cx="411480" cy="411480"/>
          </a:xfrm>
          <a:prstGeom prst="ellipse">
            <a:avLst/>
          </a:prstGeom>
          <a:solidFill>
            <a:srgbClr val="50A4FF"/>
          </a:solidFill>
          <a:ln>
            <a:solidFill>
              <a:srgbClr val="5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2743200"/>
            <a:ext cx="960120" cy="960120"/>
          </a:xfrm>
          <a:prstGeom prst="ellipse">
            <a:avLst/>
          </a:prstGeom>
          <a:solidFill>
            <a:srgbClr val="15253F"/>
          </a:solidFill>
          <a:ln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3657600"/>
            <a:ext cx="320040" cy="320040"/>
          </a:xfrm>
          <a:prstGeom prst="ellipse">
            <a:avLst/>
          </a:prstGeom>
          <a:solidFill>
            <a:srgbClr val="B489FF"/>
          </a:solidFill>
          <a:ln>
            <a:solidFill>
              <a:srgbClr val="B4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749808"/>
            <a:ext cx="2971800" cy="292608"/>
          </a:xfrm>
          <a:prstGeom prst="roundRect">
            <a:avLst/>
          </a:prstGeom>
          <a:solidFill>
            <a:srgbClr val="28364C"/>
          </a:solidFill>
          <a:ln>
            <a:solidFill>
              <a:srgbClr val="28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758952"/>
            <a:ext cx="2916936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00" b="1">
                <a:solidFill>
                  <a:srgbClr val="FFA632"/>
                </a:solidFill>
                <a:latin typeface="Aptos"/>
              </a:rPr>
              <a:t>AWS SKILL PALAVER • FINAL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417320"/>
            <a:ext cx="8595360" cy="1554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200" b="1">
                <a:solidFill>
                  <a:srgbClr val="F5F8FC"/>
                </a:solidFill>
                <a:latin typeface="Aptos"/>
              </a:rPr>
              <a:t>Amazon SQS &amp; SNS
Fan-Out for Event Notifications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246120"/>
            <a:ext cx="7955279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900" b="0">
                <a:solidFill>
                  <a:srgbClr val="B1C1D5"/>
                </a:solidFill>
                <a:latin typeface="Aptos"/>
              </a:rPr>
              <a:t>One event. Multiple queues. Independent delivery.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892040"/>
            <a:ext cx="5120640" cy="914400"/>
          </a:xfrm>
          <a:prstGeom prst="roundRect">
            <a:avLst/>
          </a:prstGeom>
          <a:solidFill>
            <a:srgbClr val="15253F"/>
          </a:solidFill>
          <a:ln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010912"/>
            <a:ext cx="466344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SAI SUMIT PANIGRAHI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466344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100" b="0">
                <a:solidFill>
                  <a:srgbClr val="B1C1D5"/>
                </a:solidFill>
                <a:latin typeface="Aptos"/>
              </a:rPr>
              <a:t>B.Tech • Artificial Intelligence &amp; Data Science</a:t>
            </a:r>
          </a:p>
        </p:txBody>
      </p:sp>
      <p:sp>
        <p:nvSpPr>
          <p:cNvPr id="14" name="Oval 13"/>
          <p:cNvSpPr/>
          <p:nvPr/>
        </p:nvSpPr>
        <p:spPr>
          <a:xfrm>
            <a:off x="9006840" y="4709160"/>
            <a:ext cx="1005840" cy="100584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4709160"/>
            <a:ext cx="1005840" cy="10058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000" b="1">
                <a:solidFill>
                  <a:srgbClr val="0A1221"/>
                </a:solidFill>
                <a:latin typeface="Aptos"/>
              </a:rPr>
              <a:t>SNS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78440" y="3063240"/>
            <a:ext cx="1417320" cy="594360"/>
          </a:xfrm>
          <a:prstGeom prst="roundRect">
            <a:avLst/>
          </a:prstGeom>
          <a:solidFill>
            <a:srgbClr val="3FC891"/>
          </a:solidFill>
          <a:ln>
            <a:solidFill>
              <a:srgbClr val="3FC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3099816"/>
            <a:ext cx="132588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0A1221"/>
                </a:solidFill>
                <a:latin typeface="Aptos"/>
              </a:rPr>
              <a:t>SQS 01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9875520" y="3355848"/>
            <a:ext cx="502920" cy="1856232"/>
          </a:xfrm>
          <a:prstGeom prst="line">
            <a:avLst/>
          </a:prstGeom>
          <a:ln w="25400">
            <a:solidFill>
              <a:srgbClr val="4A6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378440" y="4480560"/>
            <a:ext cx="1417320" cy="594360"/>
          </a:xfrm>
          <a:prstGeom prst="roundRect">
            <a:avLst/>
          </a:prstGeom>
          <a:solidFill>
            <a:srgbClr val="50A4FF"/>
          </a:solidFill>
          <a:ln>
            <a:solidFill>
              <a:srgbClr val="5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0" y="4517136"/>
            <a:ext cx="132588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0A1221"/>
                </a:solidFill>
                <a:latin typeface="Aptos"/>
              </a:rPr>
              <a:t>SQS 02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9875520" y="4773168"/>
            <a:ext cx="502920" cy="438912"/>
          </a:xfrm>
          <a:prstGeom prst="line">
            <a:avLst/>
          </a:prstGeom>
          <a:ln w="25400">
            <a:solidFill>
              <a:srgbClr val="4A6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378440" y="5806440"/>
            <a:ext cx="1417320" cy="594360"/>
          </a:xfrm>
          <a:prstGeom prst="roundRect">
            <a:avLst/>
          </a:prstGeom>
          <a:solidFill>
            <a:srgbClr val="B489FF"/>
          </a:solidFill>
          <a:ln>
            <a:solidFill>
              <a:srgbClr val="B4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0" y="5843016"/>
            <a:ext cx="132588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0A1221"/>
                </a:solidFill>
                <a:latin typeface="Aptos"/>
              </a:rPr>
              <a:t>SQS 03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75520" y="5212080"/>
            <a:ext cx="502920" cy="886968"/>
          </a:xfrm>
          <a:prstGeom prst="line">
            <a:avLst/>
          </a:prstGeom>
          <a:ln w="25400">
            <a:solidFill>
              <a:srgbClr val="4A6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B1C1D5"/>
                </a:solidFill>
                <a:latin typeface="Aptos"/>
              </a:rPr>
              <a:t>A lightweight event-driven design for distributing notifications.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35024"/>
            <a:ext cx="713232" cy="45720"/>
          </a:xfrm>
          <a:prstGeom prst="rect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000" b="1">
                <a:solidFill>
                  <a:srgbClr val="B1C1D5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1965960"/>
          </a:xfrm>
          <a:prstGeom prst="roundRect">
            <a:avLst/>
          </a:prstGeom>
          <a:solidFill>
            <a:srgbClr val="15253F"/>
          </a:solidFill>
          <a:ln>
            <a:solidFill>
              <a:srgbClr val="F4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1920240"/>
            <a:ext cx="109728" cy="1600200"/>
          </a:xfrm>
          <a:prstGeom prst="rect">
            <a:avLst/>
          </a:prstGeom>
          <a:solidFill>
            <a:srgbClr val="F47575"/>
          </a:solidFill>
          <a:ln>
            <a:solidFill>
              <a:srgbClr val="F4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901952"/>
            <a:ext cx="2898648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359152"/>
            <a:ext cx="2898648" cy="12161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1C1D5"/>
                </a:solidFill>
                <a:latin typeface="Aptos"/>
              </a:rPr>
              <a:t>Multiple services need the same event, but direct connections create dependencies.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29000" cy="1965960"/>
          </a:xfrm>
          <a:prstGeom prst="roundRect">
            <a:avLst/>
          </a:prstGeom>
          <a:solidFill>
            <a:srgbClr val="15253F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3712" y="1920240"/>
            <a:ext cx="109728" cy="1600200"/>
          </a:xfrm>
          <a:prstGeom prst="rect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1901952"/>
            <a:ext cx="2898648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359152"/>
            <a:ext cx="2898648" cy="12161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1C1D5"/>
                </a:solidFill>
                <a:latin typeface="Aptos"/>
              </a:rPr>
              <a:t>Publish once to SNS; deliver a copy to each subscribed SQS queue.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29000" cy="1965960"/>
          </a:xfrm>
          <a:prstGeom prst="roundRect">
            <a:avLst/>
          </a:prstGeom>
          <a:solidFill>
            <a:srgbClr val="15253F"/>
          </a:solidFill>
          <a:ln>
            <a:solidFill>
              <a:srgbClr val="3FC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2" y="1920240"/>
            <a:ext cx="109728" cy="1600200"/>
          </a:xfrm>
          <a:prstGeom prst="rect">
            <a:avLst/>
          </a:prstGeom>
          <a:solidFill>
            <a:srgbClr val="3FC891"/>
          </a:solidFill>
          <a:ln>
            <a:solidFill>
              <a:srgbClr val="3FC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1901952"/>
            <a:ext cx="2898648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359152"/>
            <a:ext cx="2898648" cy="12161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200" b="0">
                <a:solidFill>
                  <a:srgbClr val="B1C1D5"/>
                </a:solidFill>
                <a:latin typeface="Aptos"/>
              </a:rPr>
              <a:t>Each queue stores the event for its own consumer to process independently.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000" b="1">
                <a:solidFill>
                  <a:srgbClr val="FFA632"/>
                </a:solidFill>
                <a:latin typeface="Aptos"/>
              </a:rPr>
              <a:t>Project objective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754880"/>
            <a:ext cx="9875520" cy="8229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700" b="0">
                <a:solidFill>
                  <a:srgbClr val="F5F8FC"/>
                </a:solidFill>
                <a:latin typeface="Aptos"/>
              </a:rPr>
              <a:t>Implement and validate SNS-to-SQS fan-out in AWS Academy Learner Lab by publishing one order event and verifying delivery to three queues.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035040"/>
            <a:ext cx="1033272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B1C1D5"/>
                </a:solidFill>
                <a:latin typeface="Aptos"/>
              </a:rPr>
              <a:t>Scope: SNS topic + SQS queues + subscriptions + message delivery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B1C1D5"/>
                </a:solidFill>
                <a:latin typeface="Aptos"/>
              </a:rPr>
              <a:t>A single event may need to trigger several independent business 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35024"/>
            <a:ext cx="713232" cy="45720"/>
          </a:xfrm>
          <a:prstGeom prst="rect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000" b="1">
                <a:solidFill>
                  <a:srgbClr val="B1C1D5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846320" cy="4069080"/>
          </a:xfrm>
          <a:prstGeom prst="roundRect">
            <a:avLst/>
          </a:prstGeom>
          <a:solidFill>
            <a:srgbClr val="15253F"/>
          </a:solidFill>
          <a:ln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993392"/>
            <a:ext cx="2103120" cy="292608"/>
          </a:xfrm>
          <a:prstGeom prst="roundRect">
            <a:avLst/>
          </a:prstGeom>
          <a:solidFill>
            <a:srgbClr val="28364C"/>
          </a:solidFill>
          <a:ln>
            <a:solidFill>
              <a:srgbClr val="28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002536"/>
            <a:ext cx="2048255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00" b="1">
                <a:solidFill>
                  <a:srgbClr val="F47575"/>
                </a:solidFill>
                <a:latin typeface="Aptos"/>
              </a:rPr>
              <a:t>DIRECT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606040"/>
            <a:ext cx="2651760" cy="566928"/>
          </a:xfrm>
          <a:prstGeom prst="roundRect">
            <a:avLst/>
          </a:prstGeom>
          <a:solidFill>
            <a:srgbClr val="43303F"/>
          </a:solidFill>
          <a:ln>
            <a:solidFill>
              <a:srgbClr val="F4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01952" y="2651760"/>
            <a:ext cx="2505456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Order service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54680" y="3172968"/>
            <a:ext cx="0" cy="347472"/>
          </a:xfrm>
          <a:prstGeom prst="line">
            <a:avLst/>
          </a:prstGeom>
          <a:ln w="19050">
            <a:solidFill>
              <a:srgbClr val="F4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325880" y="3657600"/>
            <a:ext cx="3657600" cy="502920"/>
          </a:xfrm>
          <a:prstGeom prst="roundRect">
            <a:avLst/>
          </a:prstGeom>
          <a:solidFill>
            <a:srgbClr val="382E42"/>
          </a:solidFill>
          <a:ln>
            <a:solidFill>
              <a:srgbClr val="6F4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685032"/>
            <a:ext cx="3474720" cy="4297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Inventory service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54680" y="3172968"/>
            <a:ext cx="0" cy="1124711"/>
          </a:xfrm>
          <a:prstGeom prst="line">
            <a:avLst/>
          </a:prstGeom>
          <a:ln w="19050">
            <a:solidFill>
              <a:srgbClr val="F4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325880" y="4434840"/>
            <a:ext cx="3657600" cy="502920"/>
          </a:xfrm>
          <a:prstGeom prst="roundRect">
            <a:avLst/>
          </a:prstGeom>
          <a:solidFill>
            <a:srgbClr val="382E42"/>
          </a:solidFill>
          <a:ln>
            <a:solidFill>
              <a:srgbClr val="6F4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4462272"/>
            <a:ext cx="3474720" cy="4297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Shipping service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54680" y="3172968"/>
            <a:ext cx="0" cy="1901952"/>
          </a:xfrm>
          <a:prstGeom prst="line">
            <a:avLst/>
          </a:prstGeom>
          <a:ln w="19050">
            <a:solidFill>
              <a:srgbClr val="F4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325880" y="5212080"/>
            <a:ext cx="3657600" cy="502920"/>
          </a:xfrm>
          <a:prstGeom prst="roundRect">
            <a:avLst/>
          </a:prstGeom>
          <a:solidFill>
            <a:srgbClr val="382E42"/>
          </a:solidFill>
          <a:ln>
            <a:solidFill>
              <a:srgbClr val="6F4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5239512"/>
            <a:ext cx="3474720" cy="4297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Notification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1993392"/>
            <a:ext cx="50292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900" b="1">
                <a:solidFill>
                  <a:srgbClr val="F5F8FC"/>
                </a:solidFill>
                <a:latin typeface="Aptos"/>
              </a:rPr>
              <a:t>Why this is a challenge</a:t>
            </a:r>
          </a:p>
        </p:txBody>
      </p:sp>
      <p:sp>
        <p:nvSpPr>
          <p:cNvPr id="21" name="Oval 20"/>
          <p:cNvSpPr/>
          <p:nvPr/>
        </p:nvSpPr>
        <p:spPr>
          <a:xfrm>
            <a:off x="6126480" y="2807208"/>
            <a:ext cx="91440" cy="9144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2651760"/>
            <a:ext cx="4809744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Services become tightly coupled</a:t>
            </a:r>
          </a:p>
        </p:txBody>
      </p:sp>
      <p:sp>
        <p:nvSpPr>
          <p:cNvPr id="23" name="Oval 22"/>
          <p:cNvSpPr/>
          <p:nvPr/>
        </p:nvSpPr>
        <p:spPr>
          <a:xfrm>
            <a:off x="6126480" y="3520439"/>
            <a:ext cx="91440" cy="9144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364991"/>
            <a:ext cx="4809744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A slow or unavailable service can delay related work</a:t>
            </a:r>
          </a:p>
        </p:txBody>
      </p:sp>
      <p:sp>
        <p:nvSpPr>
          <p:cNvPr id="25" name="Oval 24"/>
          <p:cNvSpPr/>
          <p:nvPr/>
        </p:nvSpPr>
        <p:spPr>
          <a:xfrm>
            <a:off x="6126480" y="4233672"/>
            <a:ext cx="91440" cy="9144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4078224"/>
            <a:ext cx="4809744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Each connection adds integration effort</a:t>
            </a:r>
          </a:p>
        </p:txBody>
      </p:sp>
      <p:sp>
        <p:nvSpPr>
          <p:cNvPr id="27" name="Oval 26"/>
          <p:cNvSpPr/>
          <p:nvPr/>
        </p:nvSpPr>
        <p:spPr>
          <a:xfrm>
            <a:off x="6126480" y="4946904"/>
            <a:ext cx="91440" cy="9144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4791456"/>
            <a:ext cx="4809744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Scaling and troubleshooting become harder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5577840"/>
            <a:ext cx="5029200" cy="384048"/>
          </a:xfrm>
          <a:prstGeom prst="roundRect">
            <a:avLst/>
          </a:prstGeom>
          <a:solidFill>
            <a:srgbClr val="3A3021"/>
          </a:solidFill>
          <a:ln>
            <a:solidFill>
              <a:srgbClr val="7055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2" y="5596128"/>
            <a:ext cx="480060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300" b="1">
                <a:solidFill>
                  <a:srgbClr val="FFA632"/>
                </a:solidFill>
                <a:latin typeface="Aptos"/>
              </a:rPr>
              <a:t>Need: decouple publishing from processing.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AWS services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B1C1D5"/>
                </a:solidFill>
                <a:latin typeface="Aptos"/>
              </a:rPr>
              <a:t>SNS distributes the event; SQS holds it until a consumer retrieves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35024"/>
            <a:ext cx="713232" cy="45720"/>
          </a:xfrm>
          <a:prstGeom prst="rect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000" b="1">
                <a:solidFill>
                  <a:srgbClr val="B1C1D5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074920" cy="3474720"/>
          </a:xfrm>
          <a:prstGeom prst="roundRect">
            <a:avLst/>
          </a:prstGeom>
          <a:solidFill>
            <a:srgbClr val="15253F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194560"/>
            <a:ext cx="822960" cy="82296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822960" cy="8229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700" b="1">
                <a:solidFill>
                  <a:srgbClr val="0A1221"/>
                </a:solidFill>
                <a:latin typeface="Aptos"/>
              </a:rPr>
              <a:t>SNS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176272"/>
            <a:ext cx="320040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Amazon Simple Notification Service</a:t>
            </a:r>
          </a:p>
        </p:txBody>
      </p:sp>
      <p:sp>
        <p:nvSpPr>
          <p:cNvPr id="10" name="Oval 9"/>
          <p:cNvSpPr/>
          <p:nvPr/>
        </p:nvSpPr>
        <p:spPr>
          <a:xfrm>
            <a:off x="1234440" y="3493008"/>
            <a:ext cx="91440" cy="9144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53896" y="3337560"/>
            <a:ext cx="4078224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Publish–subscribe messaging service</a:t>
            </a:r>
          </a:p>
        </p:txBody>
      </p:sp>
      <p:sp>
        <p:nvSpPr>
          <p:cNvPr id="12" name="Oval 11"/>
          <p:cNvSpPr/>
          <p:nvPr/>
        </p:nvSpPr>
        <p:spPr>
          <a:xfrm>
            <a:off x="1234440" y="4133087"/>
            <a:ext cx="91440" cy="9144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3896" y="3977639"/>
            <a:ext cx="4078224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Sends one published event to multiple subscribers</a:t>
            </a:r>
          </a:p>
        </p:txBody>
      </p:sp>
      <p:sp>
        <p:nvSpPr>
          <p:cNvPr id="14" name="Oval 13"/>
          <p:cNvSpPr/>
          <p:nvPr/>
        </p:nvSpPr>
        <p:spPr>
          <a:xfrm>
            <a:off x="1234440" y="4773168"/>
            <a:ext cx="91440" cy="9144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53896" y="4617720"/>
            <a:ext cx="4078224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Acts as the fan-out distributor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828800"/>
            <a:ext cx="5074920" cy="3474720"/>
          </a:xfrm>
          <a:prstGeom prst="roundRect">
            <a:avLst/>
          </a:prstGeom>
          <a:solidFill>
            <a:srgbClr val="15253F"/>
          </a:solidFill>
          <a:ln>
            <a:solidFill>
              <a:srgbClr val="5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75120" y="2194560"/>
            <a:ext cx="822960" cy="822960"/>
          </a:xfrm>
          <a:prstGeom prst="ellipse">
            <a:avLst/>
          </a:prstGeom>
          <a:solidFill>
            <a:srgbClr val="50A4FF"/>
          </a:solidFill>
          <a:ln>
            <a:solidFill>
              <a:srgbClr val="5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194560"/>
            <a:ext cx="822960" cy="8229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0A1221"/>
                </a:solidFill>
                <a:latin typeface="Aptos"/>
              </a:rPr>
              <a:t>SQS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2176272"/>
            <a:ext cx="320040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Amazon Simple Queue Service</a:t>
            </a:r>
          </a:p>
        </p:txBody>
      </p:sp>
      <p:sp>
        <p:nvSpPr>
          <p:cNvPr id="20" name="Oval 19"/>
          <p:cNvSpPr/>
          <p:nvPr/>
        </p:nvSpPr>
        <p:spPr>
          <a:xfrm>
            <a:off x="6720840" y="3493008"/>
            <a:ext cx="91440" cy="91440"/>
          </a:xfrm>
          <a:prstGeom prst="ellipse">
            <a:avLst/>
          </a:prstGeom>
          <a:solidFill>
            <a:srgbClr val="50A4FF"/>
          </a:solidFill>
          <a:ln>
            <a:solidFill>
              <a:srgbClr val="5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0296" y="3337560"/>
            <a:ext cx="4078224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Managed message queue</a:t>
            </a:r>
          </a:p>
        </p:txBody>
      </p:sp>
      <p:sp>
        <p:nvSpPr>
          <p:cNvPr id="22" name="Oval 21"/>
          <p:cNvSpPr/>
          <p:nvPr/>
        </p:nvSpPr>
        <p:spPr>
          <a:xfrm>
            <a:off x="6720840" y="4133087"/>
            <a:ext cx="91440" cy="91440"/>
          </a:xfrm>
          <a:prstGeom prst="ellipse">
            <a:avLst/>
          </a:prstGeom>
          <a:solidFill>
            <a:srgbClr val="50A4FF"/>
          </a:solidFill>
          <a:ln>
            <a:solidFill>
              <a:srgbClr val="5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0296" y="3977639"/>
            <a:ext cx="4078224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Buffers messages until retrieved</a:t>
            </a:r>
          </a:p>
        </p:txBody>
      </p:sp>
      <p:sp>
        <p:nvSpPr>
          <p:cNvPr id="24" name="Oval 23"/>
          <p:cNvSpPr/>
          <p:nvPr/>
        </p:nvSpPr>
        <p:spPr>
          <a:xfrm>
            <a:off x="6720840" y="4773168"/>
            <a:ext cx="91440" cy="91440"/>
          </a:xfrm>
          <a:prstGeom prst="ellipse">
            <a:avLst/>
          </a:prstGeom>
          <a:solidFill>
            <a:srgbClr val="50A4FF"/>
          </a:solidFill>
          <a:ln>
            <a:solidFill>
              <a:srgbClr val="5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0296" y="4617720"/>
            <a:ext cx="4078224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Separates consumers from the publisher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1033272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500" b="1">
                <a:solidFill>
                  <a:srgbClr val="3FC891"/>
                </a:solidFill>
                <a:latin typeface="Aptos"/>
              </a:rPr>
              <a:t>Together, SNS + SQS enable asynchronous communication and independent queue consumption.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B1C1D5"/>
                </a:solidFill>
                <a:latin typeface="Aptos"/>
              </a:rPr>
              <a:t>Order event published once and fanned out to three subscribed queues.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35024"/>
            <a:ext cx="713232" cy="45720"/>
          </a:xfrm>
          <a:prstGeom prst="rect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000" b="1">
                <a:solidFill>
                  <a:srgbClr val="B1C1D5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64208"/>
            <a:ext cx="3291840" cy="640080"/>
          </a:xfrm>
          <a:prstGeom prst="roundRect">
            <a:avLst/>
          </a:prstGeom>
          <a:solidFill>
            <a:srgbClr val="273A58"/>
          </a:solidFill>
          <a:ln>
            <a:solidFill>
              <a:srgbClr val="4A6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737360"/>
            <a:ext cx="3054096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Order event / Publisher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2304288"/>
            <a:ext cx="0" cy="393192"/>
          </a:xfrm>
          <a:prstGeom prst="line">
            <a:avLst/>
          </a:prstGeom>
          <a:ln w="25400">
            <a:solidFill>
              <a:srgbClr val="4A6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86200" y="2697480"/>
            <a:ext cx="4389120" cy="758952"/>
          </a:xfrm>
          <a:prstGeom prst="roundRect">
            <a:avLst/>
          </a:prstGeom>
          <a:solidFill>
            <a:srgbClr val="4C351F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2788920"/>
            <a:ext cx="4114800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F5F8FC"/>
                </a:solidFill>
                <a:latin typeface="Aptos"/>
              </a:rPr>
              <a:t>SNS Topic: OrderEvents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3456432"/>
            <a:ext cx="0" cy="310896"/>
          </a:xfrm>
          <a:prstGeom prst="line">
            <a:avLst/>
          </a:prstGeom>
          <a:ln w="25400">
            <a:solidFill>
              <a:srgbClr val="4A6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31720" y="3767328"/>
            <a:ext cx="7498080" cy="0"/>
          </a:xfrm>
          <a:prstGeom prst="line">
            <a:avLst/>
          </a:prstGeom>
          <a:ln w="25400">
            <a:solidFill>
              <a:srgbClr val="4A6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86000" y="3767328"/>
            <a:ext cx="0" cy="329184"/>
          </a:xfrm>
          <a:prstGeom prst="line">
            <a:avLst/>
          </a:prstGeom>
          <a:ln w="25400">
            <a:solidFill>
              <a:srgbClr val="4A6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5840" y="4096512"/>
            <a:ext cx="2560320" cy="1115568"/>
          </a:xfrm>
          <a:prstGeom prst="roundRect">
            <a:avLst/>
          </a:prstGeom>
          <a:solidFill>
            <a:srgbClr val="15253F"/>
          </a:solidFill>
          <a:ln>
            <a:solidFill>
              <a:srgbClr val="3FC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197096"/>
            <a:ext cx="237744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00" b="1">
                <a:solidFill>
                  <a:srgbClr val="3FC891"/>
                </a:solidFill>
                <a:latin typeface="Aptos"/>
              </a:rPr>
              <a:t>SQS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60"/>
            <a:ext cx="237744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InventoryQueue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28032"/>
            <a:ext cx="237744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0">
                <a:solidFill>
                  <a:srgbClr val="B1C1D5"/>
                </a:solidFill>
                <a:latin typeface="Aptos"/>
              </a:rPr>
              <a:t>Stock update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9320" y="3767328"/>
            <a:ext cx="0" cy="329184"/>
          </a:xfrm>
          <a:prstGeom prst="line">
            <a:avLst/>
          </a:prstGeom>
          <a:ln w="25400">
            <a:solidFill>
              <a:srgbClr val="4A6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709160" y="4096512"/>
            <a:ext cx="2560320" cy="1115568"/>
          </a:xfrm>
          <a:prstGeom prst="roundRect">
            <a:avLst/>
          </a:prstGeom>
          <a:solidFill>
            <a:srgbClr val="15253F"/>
          </a:solidFill>
          <a:ln>
            <a:solidFill>
              <a:srgbClr val="5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4197096"/>
            <a:ext cx="237744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00" b="1">
                <a:solidFill>
                  <a:srgbClr val="50A4FF"/>
                </a:solidFill>
                <a:latin typeface="Aptos"/>
              </a:rPr>
              <a:t>SQS QUEUE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480560"/>
            <a:ext cx="237744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ShippingQueue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4828032"/>
            <a:ext cx="237744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0">
                <a:solidFill>
                  <a:srgbClr val="B1C1D5"/>
                </a:solidFill>
                <a:latin typeface="Aptos"/>
              </a:rPr>
              <a:t>Delivery request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92640" y="3767328"/>
            <a:ext cx="0" cy="329184"/>
          </a:xfrm>
          <a:prstGeom prst="line">
            <a:avLst/>
          </a:prstGeom>
          <a:ln w="25400">
            <a:solidFill>
              <a:srgbClr val="4A6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12480" y="4096512"/>
            <a:ext cx="2560320" cy="1115568"/>
          </a:xfrm>
          <a:prstGeom prst="roundRect">
            <a:avLst/>
          </a:prstGeom>
          <a:solidFill>
            <a:srgbClr val="15253F"/>
          </a:solidFill>
          <a:ln>
            <a:solidFill>
              <a:srgbClr val="B4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19" y="4197096"/>
            <a:ext cx="237744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00" b="1">
                <a:solidFill>
                  <a:srgbClr val="B489FF"/>
                </a:solidFill>
                <a:latin typeface="Aptos"/>
              </a:rPr>
              <a:t>SQS QUEUE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480560"/>
            <a:ext cx="237744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NotificationQueue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4828032"/>
            <a:ext cx="237744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0">
                <a:solidFill>
                  <a:srgbClr val="B1C1D5"/>
                </a:solidFill>
                <a:latin typeface="Aptos"/>
              </a:rPr>
              <a:t>Customer alert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400" b="0">
                <a:solidFill>
                  <a:srgbClr val="B1C1D5"/>
                </a:solidFill>
                <a:latin typeface="Aptos"/>
              </a:rPr>
              <a:t>Each queue receives its own notification copy and retains it until consumed or deleted.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Implementation in AWS Academy Learner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B1C1D5"/>
                </a:solidFill>
                <a:latin typeface="Aptos"/>
              </a:rPr>
              <a:t>Console-based prototype completed in the AWS region shown in the screenshots.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35024"/>
            <a:ext cx="713232" cy="45720"/>
          </a:xfrm>
          <a:prstGeom prst="rect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000" b="1">
                <a:solidFill>
                  <a:srgbClr val="B1C1D5"/>
                </a:solidFill>
                <a:latin typeface="Aptos"/>
              </a:rP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719072"/>
            <a:ext cx="411480" cy="41148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1148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0A1221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64208"/>
            <a:ext cx="274320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Launch Learner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664208"/>
            <a:ext cx="685800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0">
                <a:solidFill>
                  <a:srgbClr val="B1C1D5"/>
                </a:solidFill>
                <a:latin typeface="Aptos"/>
              </a:rPr>
              <a:t>Open the AWS Management Console.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74420" y="2139696"/>
            <a:ext cx="0" cy="237744"/>
          </a:xfrm>
          <a:prstGeom prst="line">
            <a:avLst/>
          </a:prstGeom>
          <a:ln w="17780">
            <a:solidFill>
              <a:srgbClr val="4A6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68680" y="2423160"/>
            <a:ext cx="411480" cy="41148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41148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0A1221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368296"/>
            <a:ext cx="274320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Create SNS topic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368296"/>
            <a:ext cx="685800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0">
                <a:solidFill>
                  <a:srgbClr val="B1C1D5"/>
                </a:solidFill>
                <a:latin typeface="Aptos"/>
              </a:rPr>
              <a:t>Create a Standard topic named OrderEvents.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74420" y="2843784"/>
            <a:ext cx="0" cy="237744"/>
          </a:xfrm>
          <a:prstGeom prst="line">
            <a:avLst/>
          </a:prstGeom>
          <a:ln w="17780">
            <a:solidFill>
              <a:srgbClr val="4A6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68680" y="3127248"/>
            <a:ext cx="411480" cy="41148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41148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0A1221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072384"/>
            <a:ext cx="274320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Create SQS queues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072384"/>
            <a:ext cx="685800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0">
                <a:solidFill>
                  <a:srgbClr val="B1C1D5"/>
                </a:solidFill>
                <a:latin typeface="Aptos"/>
              </a:rPr>
              <a:t>Create InventoryQueue, ShippingQueue and NotificationQueue.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74420" y="3547872"/>
            <a:ext cx="0" cy="237744"/>
          </a:xfrm>
          <a:prstGeom prst="line">
            <a:avLst/>
          </a:prstGeom>
          <a:ln w="17780">
            <a:solidFill>
              <a:srgbClr val="4A6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68680" y="3831335"/>
            <a:ext cx="411480" cy="41148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831335"/>
            <a:ext cx="41148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0A1221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776472"/>
            <a:ext cx="274320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Subscribe queues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3776472"/>
            <a:ext cx="685800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0">
                <a:solidFill>
                  <a:srgbClr val="B1C1D5"/>
                </a:solidFill>
                <a:latin typeface="Aptos"/>
              </a:rPr>
              <a:t>Subscribe each SQS queue to the SNS topic and allow SNS to send.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74420" y="4251960"/>
            <a:ext cx="0" cy="237744"/>
          </a:xfrm>
          <a:prstGeom prst="line">
            <a:avLst/>
          </a:prstGeom>
          <a:ln w="17780">
            <a:solidFill>
              <a:srgbClr val="4A6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68680" y="4535424"/>
            <a:ext cx="411480" cy="41148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535424"/>
            <a:ext cx="41148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0A1221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480560"/>
            <a:ext cx="274320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Publish event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4480560"/>
            <a:ext cx="685800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0">
                <a:solidFill>
                  <a:srgbClr val="B1C1D5"/>
                </a:solidFill>
                <a:latin typeface="Aptos"/>
              </a:rPr>
              <a:t>Publish a sample order notification to OrderEvents.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74420" y="4956048"/>
            <a:ext cx="0" cy="237744"/>
          </a:xfrm>
          <a:prstGeom prst="line">
            <a:avLst/>
          </a:prstGeom>
          <a:ln w="17780">
            <a:solidFill>
              <a:srgbClr val="4A6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68680" y="5239512"/>
            <a:ext cx="411480" cy="41148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239512"/>
            <a:ext cx="41148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000" b="1">
                <a:solidFill>
                  <a:srgbClr val="0A1221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184648"/>
            <a:ext cx="274320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Verify 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0" y="5184648"/>
            <a:ext cx="685800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0">
                <a:solidFill>
                  <a:srgbClr val="B1C1D5"/>
                </a:solidFill>
                <a:latin typeface="Aptos"/>
              </a:rPr>
              <a:t>Poll each queue and inspect the received message body.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6080760"/>
            <a:ext cx="10287000" cy="347472"/>
          </a:xfrm>
          <a:prstGeom prst="roundRect">
            <a:avLst/>
          </a:prstGeom>
          <a:solidFill>
            <a:srgbClr val="1B3F38"/>
          </a:solidFill>
          <a:ln>
            <a:solidFill>
              <a:srgbClr val="307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6089904"/>
            <a:ext cx="1005840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3FC891"/>
                </a:solidFill>
                <a:latin typeface="Aptos"/>
              </a:rPr>
              <a:t>Validation result: one order notification was available in all three queues.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Sample event payload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B1C1D5"/>
                </a:solidFill>
                <a:latin typeface="Aptos"/>
              </a:rPr>
              <a:t>The test event represents a newly placed e-commerce order.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35024"/>
            <a:ext cx="713232" cy="45720"/>
          </a:xfrm>
          <a:prstGeom prst="rect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000" b="1">
                <a:solidFill>
                  <a:srgbClr val="B1C1D5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6492240" cy="4251960"/>
          </a:xfrm>
          <a:prstGeom prst="roundRect">
            <a:avLst/>
          </a:prstGeom>
          <a:solidFill>
            <a:srgbClr val="0A1221"/>
          </a:solidFill>
          <a:ln>
            <a:solidFill>
              <a:srgbClr val="4A6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29968"/>
            <a:ext cx="5806440" cy="3566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A0DEBE"/>
                </a:solidFill>
                <a:latin typeface="Consolas"/>
              </a:rPr>
              <a:t>{
  "eventType": "ORDER_PLACED",
  "orderId": "ORD1001",
  "customer": "Sai",
  "product": "Laptop",
  "quantity": 1,
  "status": "Confirmed"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737360"/>
            <a:ext cx="3749039" cy="4251960"/>
          </a:xfrm>
          <a:prstGeom prst="roundRect">
            <a:avLst/>
          </a:prstGeom>
          <a:solidFill>
            <a:srgbClr val="15253F"/>
          </a:solidFill>
          <a:ln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057400"/>
            <a:ext cx="310896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800" b="1">
                <a:solidFill>
                  <a:srgbClr val="FFA632"/>
                </a:solidFill>
                <a:latin typeface="Aptos"/>
              </a:rPr>
              <a:t>Event meaning</a:t>
            </a:r>
          </a:p>
        </p:txBody>
      </p:sp>
      <p:sp>
        <p:nvSpPr>
          <p:cNvPr id="10" name="Oval 9"/>
          <p:cNvSpPr/>
          <p:nvPr/>
        </p:nvSpPr>
        <p:spPr>
          <a:xfrm>
            <a:off x="7955279" y="2898648"/>
            <a:ext cx="91440" cy="91440"/>
          </a:xfrm>
          <a:prstGeom prst="ellipse">
            <a:avLst/>
          </a:prstGeom>
          <a:solidFill>
            <a:srgbClr val="50A4FF"/>
          </a:solidFill>
          <a:ln>
            <a:solidFill>
              <a:srgbClr val="5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2743200"/>
            <a:ext cx="2752344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eventType — event category</a:t>
            </a:r>
          </a:p>
        </p:txBody>
      </p:sp>
      <p:sp>
        <p:nvSpPr>
          <p:cNvPr id="12" name="Oval 11"/>
          <p:cNvSpPr/>
          <p:nvPr/>
        </p:nvSpPr>
        <p:spPr>
          <a:xfrm>
            <a:off x="7955279" y="3557015"/>
            <a:ext cx="91440" cy="91440"/>
          </a:xfrm>
          <a:prstGeom prst="ellipse">
            <a:avLst/>
          </a:prstGeom>
          <a:solidFill>
            <a:srgbClr val="50A4FF"/>
          </a:solidFill>
          <a:ln>
            <a:solidFill>
              <a:srgbClr val="5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74736" y="3401568"/>
            <a:ext cx="2752344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orderId — unique order reference</a:t>
            </a:r>
          </a:p>
        </p:txBody>
      </p:sp>
      <p:sp>
        <p:nvSpPr>
          <p:cNvPr id="14" name="Oval 13"/>
          <p:cNvSpPr/>
          <p:nvPr/>
        </p:nvSpPr>
        <p:spPr>
          <a:xfrm>
            <a:off x="7955279" y="4215383"/>
            <a:ext cx="91440" cy="91440"/>
          </a:xfrm>
          <a:prstGeom prst="ellipse">
            <a:avLst/>
          </a:prstGeom>
          <a:solidFill>
            <a:srgbClr val="50A4FF"/>
          </a:solidFill>
          <a:ln>
            <a:solidFill>
              <a:srgbClr val="5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4059935"/>
            <a:ext cx="2752344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product / quantity — order detail</a:t>
            </a:r>
          </a:p>
        </p:txBody>
      </p:sp>
      <p:sp>
        <p:nvSpPr>
          <p:cNvPr id="16" name="Oval 15"/>
          <p:cNvSpPr/>
          <p:nvPr/>
        </p:nvSpPr>
        <p:spPr>
          <a:xfrm>
            <a:off x="7955279" y="4873752"/>
            <a:ext cx="91440" cy="91440"/>
          </a:xfrm>
          <a:prstGeom prst="ellipse">
            <a:avLst/>
          </a:prstGeom>
          <a:solidFill>
            <a:srgbClr val="50A4FF"/>
          </a:solidFill>
          <a:ln>
            <a:solidFill>
              <a:srgbClr val="5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4718304"/>
            <a:ext cx="2752344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status — current order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5440680"/>
            <a:ext cx="2971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100" b="0">
                <a:solidFill>
                  <a:srgbClr val="B1C1D5"/>
                </a:solidFill>
                <a:latin typeface="Aptos"/>
              </a:rPr>
              <a:t>SNS wraps the payload in a notification envelope by default.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Implementation evidence: SQS queues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B1C1D5"/>
                </a:solidFill>
                <a:latin typeface="Aptos"/>
              </a:rPr>
              <a:t>Queue list reproduced from the supplied AWS Console screenshot.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35024"/>
            <a:ext cx="713232" cy="45720"/>
          </a:xfrm>
          <a:prstGeom prst="rect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000" b="1">
                <a:solidFill>
                  <a:srgbClr val="B1C1D5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64208"/>
            <a:ext cx="10835640" cy="4251960"/>
          </a:xfrm>
          <a:prstGeom prst="rect">
            <a:avLst/>
          </a:prstGeom>
          <a:solidFill>
            <a:srgbClr val="F6F8FB"/>
          </a:solidFill>
          <a:ln>
            <a:solidFill>
              <a:srgbClr val="D4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64208"/>
            <a:ext cx="10835640" cy="438912"/>
          </a:xfrm>
          <a:prstGeom prst="rect">
            <a:avLst/>
          </a:prstGeom>
          <a:solidFill>
            <a:srgbClr val="E1E7E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457200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1">
                <a:solidFill>
                  <a:srgbClr val="283241"/>
                </a:solidFill>
                <a:latin typeface="Aptos"/>
              </a:rPr>
              <a:t>Amazon SQS  ›  Queues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283464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323C4A"/>
                </a:solidFill>
                <a:latin typeface="Aptos"/>
              </a:rP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31720"/>
            <a:ext cx="21031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323C4A"/>
                </a:solidFill>
                <a:latin typeface="Aptos"/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31720"/>
            <a:ext cx="201168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323C4A"/>
                </a:solidFill>
                <a:latin typeface="Aptos"/>
              </a:rPr>
              <a:t>Messages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331720"/>
            <a:ext cx="18288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323C4A"/>
                </a:solidFill>
                <a:latin typeface="Aptos"/>
              </a:rPr>
              <a:t>Messages in flight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2724912"/>
            <a:ext cx="10469880" cy="0"/>
          </a:xfrm>
          <a:prstGeom prst="line">
            <a:avLst/>
          </a:prstGeom>
          <a:ln w="12700">
            <a:solidFill>
              <a:srgbClr val="C1CA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60120" y="2926080"/>
            <a:ext cx="32918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400" b="0">
                <a:solidFill>
                  <a:srgbClr val="005DB8"/>
                </a:solidFill>
                <a:latin typeface="Aptos"/>
              </a:rPr>
              <a:t>InventoryQueue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26080"/>
            <a:ext cx="1828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0">
                <a:solidFill>
                  <a:srgbClr val="2A3443"/>
                </a:solidFill>
                <a:latin typeface="Aptos"/>
              </a:rPr>
              <a:t>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926080"/>
            <a:ext cx="1828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400" b="1">
                <a:solidFill>
                  <a:srgbClr val="232D3C"/>
                </a:solidFill>
                <a:latin typeface="Apto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926080"/>
            <a:ext cx="1828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400" b="0">
                <a:solidFill>
                  <a:srgbClr val="232D3C"/>
                </a:solidFill>
                <a:latin typeface="Aptos"/>
              </a:rPr>
              <a:t>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" y="3438144"/>
            <a:ext cx="10469880" cy="0"/>
          </a:xfrm>
          <a:prstGeom prst="line">
            <a:avLst/>
          </a:prstGeom>
          <a:ln w="10160">
            <a:solidFill>
              <a:srgbClr val="DC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0120" y="3703320"/>
            <a:ext cx="32918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400" b="0">
                <a:solidFill>
                  <a:srgbClr val="005DB8"/>
                </a:solidFill>
                <a:latin typeface="Aptos"/>
              </a:rPr>
              <a:t>NotificationQueue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03320"/>
            <a:ext cx="1828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0">
                <a:solidFill>
                  <a:srgbClr val="2A3443"/>
                </a:solidFill>
                <a:latin typeface="Aptos"/>
              </a:rPr>
              <a:t>Standard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703320"/>
            <a:ext cx="1828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400" b="1">
                <a:solidFill>
                  <a:srgbClr val="232D3C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703320"/>
            <a:ext cx="1828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400" b="0">
                <a:solidFill>
                  <a:srgbClr val="232D3C"/>
                </a:solidFill>
                <a:latin typeface="Aptos"/>
              </a:rPr>
              <a:t>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4215383"/>
            <a:ext cx="10469880" cy="0"/>
          </a:xfrm>
          <a:prstGeom prst="line">
            <a:avLst/>
          </a:prstGeom>
          <a:ln w="10160">
            <a:solidFill>
              <a:srgbClr val="DC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0120" y="4480560"/>
            <a:ext cx="32918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400" b="0">
                <a:solidFill>
                  <a:srgbClr val="005DB8"/>
                </a:solidFill>
                <a:latin typeface="Aptos"/>
              </a:rPr>
              <a:t>ShippingQueue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480560"/>
            <a:ext cx="1828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300" b="0">
                <a:solidFill>
                  <a:srgbClr val="2A3443"/>
                </a:solidFill>
                <a:latin typeface="Aptos"/>
              </a:rPr>
              <a:t>Standard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480560"/>
            <a:ext cx="1828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400" b="1">
                <a:solidFill>
                  <a:srgbClr val="232D3C"/>
                </a:solidFill>
                <a:latin typeface="Aptos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480560"/>
            <a:ext cx="1828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400" b="0">
                <a:solidFill>
                  <a:srgbClr val="232D3C"/>
                </a:solidFill>
                <a:latin typeface="Aptos"/>
              </a:rPr>
              <a:t>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8680" y="4992624"/>
            <a:ext cx="10469880" cy="0"/>
          </a:xfrm>
          <a:prstGeom prst="line">
            <a:avLst/>
          </a:prstGeom>
          <a:ln w="10160">
            <a:solidFill>
              <a:srgbClr val="DC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080760"/>
            <a:ext cx="104241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B1C1D5"/>
                </a:solidFill>
                <a:latin typeface="Aptos"/>
              </a:rPr>
              <a:t>Observed in supplied screenshot: 3 Standard queues; 1 message available in each; 0 in flight.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Implementation evidence: received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B1C1D5"/>
                </a:solidFill>
                <a:latin typeface="Aptos"/>
              </a:rPr>
              <a:t>The inspected SQS message contains an SNS notification envelope and the order event.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35024"/>
            <a:ext cx="713232" cy="45720"/>
          </a:xfrm>
          <a:prstGeom prst="rect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000" b="1">
                <a:solidFill>
                  <a:srgbClr val="B1C1D5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537960" cy="4434840"/>
          </a:xfrm>
          <a:prstGeom prst="roundRect">
            <a:avLst/>
          </a:prstGeom>
          <a:solidFill>
            <a:srgbClr val="0A1221"/>
          </a:solidFill>
          <a:ln>
            <a:solidFill>
              <a:srgbClr val="4A6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20240"/>
            <a:ext cx="6035040" cy="3886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ACDEC6"/>
                </a:solidFill>
                <a:latin typeface="Consolas"/>
              </a:rPr>
              <a:t>{
  "Type": "Notification",
  "TopicArn": "...:OrderEvents",
  "Subject": "New Order Placed",
  "Message": {
    "eventType": "ORDER_PLACED",
    "orderId": "ORD1001",
    "customer": "Sai",
    "product": "Laptop",
    "quantity": 1,
    "status": "Confirmed"
  },
  "Timestamp": "2026-10-03T16:47:40Z"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691640"/>
            <a:ext cx="3749039" cy="4434840"/>
          </a:xfrm>
          <a:prstGeom prst="roundRect">
            <a:avLst/>
          </a:prstGeom>
          <a:solidFill>
            <a:srgbClr val="15253F"/>
          </a:solidFill>
          <a:ln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79" y="1993392"/>
            <a:ext cx="2011680" cy="292608"/>
          </a:xfrm>
          <a:prstGeom prst="roundRect">
            <a:avLst/>
          </a:prstGeom>
          <a:solidFill>
            <a:srgbClr val="28364C"/>
          </a:solidFill>
          <a:ln>
            <a:solidFill>
              <a:srgbClr val="28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2002536"/>
            <a:ext cx="1956816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00" b="1">
                <a:solidFill>
                  <a:srgbClr val="3FC891"/>
                </a:solidFill>
                <a:latin typeface="Aptos"/>
              </a:rPr>
              <a:t>WHAT THIS VERIFIES</a:t>
            </a:r>
          </a:p>
        </p:txBody>
      </p:sp>
      <p:sp>
        <p:nvSpPr>
          <p:cNvPr id="11" name="Oval 10"/>
          <p:cNvSpPr/>
          <p:nvPr/>
        </p:nvSpPr>
        <p:spPr>
          <a:xfrm>
            <a:off x="7955279" y="2807208"/>
            <a:ext cx="91440" cy="91440"/>
          </a:xfrm>
          <a:prstGeom prst="ellipse">
            <a:avLst/>
          </a:prstGeom>
          <a:solidFill>
            <a:srgbClr val="3FC891"/>
          </a:solidFill>
          <a:ln>
            <a:solidFill>
              <a:srgbClr val="3FC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2651760"/>
            <a:ext cx="2752344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SNS notification reached SQS</a:t>
            </a:r>
          </a:p>
        </p:txBody>
      </p:sp>
      <p:sp>
        <p:nvSpPr>
          <p:cNvPr id="13" name="Oval 12"/>
          <p:cNvSpPr/>
          <p:nvPr/>
        </p:nvSpPr>
        <p:spPr>
          <a:xfrm>
            <a:off x="7955279" y="3493008"/>
            <a:ext cx="91440" cy="91440"/>
          </a:xfrm>
          <a:prstGeom prst="ellipse">
            <a:avLst/>
          </a:prstGeom>
          <a:solidFill>
            <a:srgbClr val="3FC891"/>
          </a:solidFill>
          <a:ln>
            <a:solidFill>
              <a:srgbClr val="3FC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3337560"/>
            <a:ext cx="2752344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Topic is OrderEvents</a:t>
            </a:r>
          </a:p>
        </p:txBody>
      </p:sp>
      <p:sp>
        <p:nvSpPr>
          <p:cNvPr id="15" name="Oval 14"/>
          <p:cNvSpPr/>
          <p:nvPr/>
        </p:nvSpPr>
        <p:spPr>
          <a:xfrm>
            <a:off x="7955279" y="4178808"/>
            <a:ext cx="91440" cy="91440"/>
          </a:xfrm>
          <a:prstGeom prst="ellipse">
            <a:avLst/>
          </a:prstGeom>
          <a:solidFill>
            <a:srgbClr val="3FC891"/>
          </a:solidFill>
          <a:ln>
            <a:solidFill>
              <a:srgbClr val="3FC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4023360"/>
            <a:ext cx="2752344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Subject identifies order event</a:t>
            </a:r>
          </a:p>
        </p:txBody>
      </p:sp>
      <p:sp>
        <p:nvSpPr>
          <p:cNvPr id="17" name="Oval 16"/>
          <p:cNvSpPr/>
          <p:nvPr/>
        </p:nvSpPr>
        <p:spPr>
          <a:xfrm>
            <a:off x="7955279" y="4864608"/>
            <a:ext cx="91440" cy="91440"/>
          </a:xfrm>
          <a:prstGeom prst="ellipse">
            <a:avLst/>
          </a:prstGeom>
          <a:solidFill>
            <a:srgbClr val="3FC891"/>
          </a:solidFill>
          <a:ln>
            <a:solidFill>
              <a:srgbClr val="3FC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4709160"/>
            <a:ext cx="2752344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Original order data is present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5577840"/>
            <a:ext cx="29718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1">
                <a:solidFill>
                  <a:srgbClr val="FFA632"/>
                </a:solidFill>
                <a:latin typeface="Aptos"/>
              </a:rPr>
              <a:t>Same event observed across queues.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End-to-end workflow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B1C1D5"/>
                </a:solidFill>
                <a:latin typeface="Aptos"/>
              </a:rPr>
              <a:t>Observed outcome of the console test.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35024"/>
            <a:ext cx="713232" cy="45720"/>
          </a:xfrm>
          <a:prstGeom prst="rect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000" b="1">
                <a:solidFill>
                  <a:srgbClr val="B1C1D5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2423160" cy="1554480"/>
          </a:xfrm>
          <a:prstGeom prst="roundRect">
            <a:avLst/>
          </a:prstGeom>
          <a:solidFill>
            <a:srgbClr val="15253F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2212848"/>
            <a:ext cx="365760" cy="36576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12848"/>
            <a:ext cx="3657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0A1221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24912"/>
            <a:ext cx="201168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Publish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108960"/>
            <a:ext cx="201168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B1C1D5"/>
                </a:solidFill>
                <a:latin typeface="Aptos"/>
              </a:rPr>
              <a:t>Order event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36392" y="2788920"/>
            <a:ext cx="365760" cy="0"/>
          </a:xfrm>
          <a:prstGeom prst="line">
            <a:avLst/>
          </a:prstGeom>
          <a:ln w="25400">
            <a:solidFill>
              <a:srgbClr val="4A6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00400" y="2560320"/>
            <a:ext cx="22860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200" b="1">
                <a:solidFill>
                  <a:srgbClr val="FFA632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3592" y="2011680"/>
            <a:ext cx="2423160" cy="1554480"/>
          </a:xfrm>
          <a:prstGeom prst="roundRect">
            <a:avLst/>
          </a:prstGeom>
          <a:solidFill>
            <a:srgbClr val="15253F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58184" y="2212848"/>
            <a:ext cx="365760" cy="36576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8184" y="2212848"/>
            <a:ext cx="3657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0A1221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724912"/>
            <a:ext cx="201168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SNS topic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108960"/>
            <a:ext cx="201168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B1C1D5"/>
                </a:solidFill>
                <a:latin typeface="Aptos"/>
              </a:rPr>
              <a:t>OrderEvents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44184" y="2788920"/>
            <a:ext cx="365760" cy="0"/>
          </a:xfrm>
          <a:prstGeom prst="line">
            <a:avLst/>
          </a:prstGeom>
          <a:ln w="25400">
            <a:solidFill>
              <a:srgbClr val="4A6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08192" y="2560320"/>
            <a:ext cx="22860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200" b="1">
                <a:solidFill>
                  <a:srgbClr val="FFA632"/>
                </a:solidFill>
                <a:latin typeface="Aptos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01384" y="2011680"/>
            <a:ext cx="2423160" cy="1554480"/>
          </a:xfrm>
          <a:prstGeom prst="roundRect">
            <a:avLst/>
          </a:prstGeom>
          <a:solidFill>
            <a:srgbClr val="15253F"/>
          </a:solidFill>
          <a:ln>
            <a:solidFill>
              <a:srgbClr val="5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65976" y="2212848"/>
            <a:ext cx="365760" cy="365760"/>
          </a:xfrm>
          <a:prstGeom prst="ellipse">
            <a:avLst/>
          </a:prstGeom>
          <a:solidFill>
            <a:srgbClr val="50A4FF"/>
          </a:solidFill>
          <a:ln>
            <a:solidFill>
              <a:srgbClr val="5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65976" y="2212848"/>
            <a:ext cx="3657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0A1221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2724912"/>
            <a:ext cx="201168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Fan-out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2" y="3108960"/>
            <a:ext cx="201168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B1C1D5"/>
                </a:solidFill>
                <a:latin typeface="Aptos"/>
              </a:rPr>
              <a:t>3 queues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51976" y="2788920"/>
            <a:ext cx="365760" cy="0"/>
          </a:xfrm>
          <a:prstGeom prst="line">
            <a:avLst/>
          </a:prstGeom>
          <a:ln w="25400">
            <a:solidFill>
              <a:srgbClr val="4A6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015984" y="2560320"/>
            <a:ext cx="22860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2200" b="1">
                <a:solidFill>
                  <a:srgbClr val="FFA632"/>
                </a:solidFill>
                <a:latin typeface="Aptos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09176" y="2011680"/>
            <a:ext cx="2423160" cy="1554480"/>
          </a:xfrm>
          <a:prstGeom prst="roundRect">
            <a:avLst/>
          </a:prstGeom>
          <a:solidFill>
            <a:srgbClr val="15253F"/>
          </a:solidFill>
          <a:ln>
            <a:solidFill>
              <a:srgbClr val="3FC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73768" y="2212848"/>
            <a:ext cx="365760" cy="365760"/>
          </a:xfrm>
          <a:prstGeom prst="ellipse">
            <a:avLst/>
          </a:prstGeom>
          <a:solidFill>
            <a:srgbClr val="3FC891"/>
          </a:solidFill>
          <a:ln>
            <a:solidFill>
              <a:srgbClr val="3FC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73768" y="2212848"/>
            <a:ext cx="3657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1">
                <a:solidFill>
                  <a:srgbClr val="0A1221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0344" y="2724912"/>
            <a:ext cx="201168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Poll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0344" y="3108960"/>
            <a:ext cx="201168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B1C1D5"/>
                </a:solidFill>
                <a:latin typeface="Aptos"/>
              </a:rPr>
              <a:t>Inspect body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251960"/>
            <a:ext cx="10287000" cy="1234440"/>
          </a:xfrm>
          <a:prstGeom prst="roundRect">
            <a:avLst/>
          </a:prstGeom>
          <a:solidFill>
            <a:srgbClr val="1B3F38"/>
          </a:solidFill>
          <a:ln>
            <a:solidFill>
              <a:srgbClr val="307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4416552"/>
            <a:ext cx="973836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700" b="1">
                <a:solidFill>
                  <a:srgbClr val="3FC891"/>
                </a:solidFill>
                <a:latin typeface="Aptos"/>
              </a:rPr>
              <a:t>Validation outcome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800600"/>
            <a:ext cx="964692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600" b="0">
                <a:solidFill>
                  <a:srgbClr val="F5F8FC"/>
                </a:solidFill>
                <a:latin typeface="Aptos"/>
              </a:rPr>
              <a:t>The event was visible in InventoryQueue, NotificationQueue and ShippingQueue.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897880"/>
            <a:ext cx="100584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0">
                <a:solidFill>
                  <a:srgbClr val="B1C1D5"/>
                </a:solidFill>
                <a:latin typeface="Aptos"/>
              </a:rPr>
              <a:t>Messages were inspected in the AWS Console; application-level processing is outside the assigned scope.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Benefits and 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200" b="0">
                <a:solidFill>
                  <a:srgbClr val="B1C1D5"/>
                </a:solidFill>
                <a:latin typeface="Aptos"/>
              </a:rPr>
              <a:t>The implemented design focuses only on SNS-SQS event fan-out.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35024"/>
            <a:ext cx="713232" cy="45720"/>
          </a:xfrm>
          <a:prstGeom prst="rect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r"/>
            <a:r>
              <a:rPr sz="1000" b="1">
                <a:solidFill>
                  <a:srgbClr val="B1C1D5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074920" cy="4160520"/>
          </a:xfrm>
          <a:prstGeom prst="roundRect">
            <a:avLst/>
          </a:prstGeom>
          <a:solidFill>
            <a:srgbClr val="15253F"/>
          </a:solidFill>
          <a:ln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011680"/>
            <a:ext cx="2194560" cy="292608"/>
          </a:xfrm>
          <a:prstGeom prst="roundRect">
            <a:avLst/>
          </a:prstGeom>
          <a:solidFill>
            <a:srgbClr val="28364C"/>
          </a:solidFill>
          <a:ln>
            <a:solidFill>
              <a:srgbClr val="28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2020824"/>
            <a:ext cx="2139696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00" b="1">
                <a:solidFill>
                  <a:srgbClr val="3FC891"/>
                </a:solidFill>
                <a:latin typeface="Aptos"/>
              </a:rPr>
              <a:t>KEY BENEFITS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761488"/>
            <a:ext cx="91440" cy="91440"/>
          </a:xfrm>
          <a:prstGeom prst="ellipse">
            <a:avLst/>
          </a:prstGeom>
          <a:solidFill>
            <a:srgbClr val="3FC891"/>
          </a:solidFill>
          <a:ln>
            <a:solidFill>
              <a:srgbClr val="3FC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2606040"/>
            <a:ext cx="4169663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Loose coupling between publisher and consumers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474720"/>
            <a:ext cx="91440" cy="91440"/>
          </a:xfrm>
          <a:prstGeom prst="ellipse">
            <a:avLst/>
          </a:prstGeom>
          <a:solidFill>
            <a:srgbClr val="3FC891"/>
          </a:solidFill>
          <a:ln>
            <a:solidFill>
              <a:srgbClr val="3FC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16736" y="3319272"/>
            <a:ext cx="4169663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Asynchronous message delivery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187952"/>
            <a:ext cx="91440" cy="91440"/>
          </a:xfrm>
          <a:prstGeom prst="ellipse">
            <a:avLst/>
          </a:prstGeom>
          <a:solidFill>
            <a:srgbClr val="3FC891"/>
          </a:solidFill>
          <a:ln>
            <a:solidFill>
              <a:srgbClr val="3FC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6736" y="4032504"/>
            <a:ext cx="4169663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Independent queues for separate services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4901183"/>
            <a:ext cx="91440" cy="91440"/>
          </a:xfrm>
          <a:prstGeom prst="ellipse">
            <a:avLst/>
          </a:prstGeom>
          <a:solidFill>
            <a:srgbClr val="3FC891"/>
          </a:solidFill>
          <a:ln>
            <a:solidFill>
              <a:srgbClr val="3FC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6736" y="4745736"/>
            <a:ext cx="4169663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Messages remain queued until retrieved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737360"/>
            <a:ext cx="5074920" cy="4160520"/>
          </a:xfrm>
          <a:prstGeom prst="roundRect">
            <a:avLst/>
          </a:prstGeom>
          <a:solidFill>
            <a:srgbClr val="15253F"/>
          </a:solidFill>
          <a:ln>
            <a:solidFill>
              <a:srgbClr val="15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0" y="2011680"/>
            <a:ext cx="2194560" cy="292608"/>
          </a:xfrm>
          <a:prstGeom prst="roundRect">
            <a:avLst/>
          </a:prstGeom>
          <a:solidFill>
            <a:srgbClr val="28364C"/>
          </a:solidFill>
          <a:ln>
            <a:solidFill>
              <a:srgbClr val="28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2020824"/>
            <a:ext cx="2139696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00" b="1">
                <a:solidFill>
                  <a:srgbClr val="FFA632"/>
                </a:solidFill>
                <a:latin typeface="Aptos"/>
              </a:rPr>
              <a:t>ASSIGNED SCOPE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2761488"/>
            <a:ext cx="91440" cy="9144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3136" y="2606040"/>
            <a:ext cx="4169663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SNS Standard topic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3474720"/>
            <a:ext cx="91440" cy="9144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3319272"/>
            <a:ext cx="4169663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Three Standard SQS queues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4187952"/>
            <a:ext cx="91440" cy="9144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4032504"/>
            <a:ext cx="4169663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SNS subscriptions and delivery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4901183"/>
            <a:ext cx="91440" cy="91440"/>
          </a:xfrm>
          <a:prstGeom prst="ellipse">
            <a:avLst/>
          </a:prstGeom>
          <a:solidFill>
            <a:srgbClr val="FFA632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03136" y="4745736"/>
            <a:ext cx="4169663" cy="4754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Manual publish, poll and 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172200"/>
            <a:ext cx="1024128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100" b="0">
                <a:solidFill>
                  <a:srgbClr val="B1C1D5"/>
                </a:solidFill>
                <a:latin typeface="Aptos"/>
              </a:rPr>
              <a:t>No Lambda, DLQ or monitoring service added, as these are outside the assigned topic.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49808"/>
            <a:ext cx="2468880" cy="292608"/>
          </a:xfrm>
          <a:prstGeom prst="roundRect">
            <a:avLst/>
          </a:prstGeom>
          <a:solidFill>
            <a:srgbClr val="28364C"/>
          </a:solidFill>
          <a:ln>
            <a:solidFill>
              <a:srgbClr val="2836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758952"/>
            <a:ext cx="2414016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900" b="1">
                <a:solidFill>
                  <a:srgbClr val="FFA632"/>
                </a:solidFill>
                <a:latin typeface="Aptos"/>
              </a:rPr>
              <a:t>FINAL REVIEW •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98755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/>
            <a:r>
              <a:rPr sz="3100" b="1">
                <a:solidFill>
                  <a:srgbClr val="F5F8FC"/>
                </a:solidFill>
                <a:latin typeface="Aptos"/>
              </a:rPr>
              <a:t>One event. Three queues.
Verified fan-out.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9692640" cy="7772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800" b="0">
                <a:solidFill>
                  <a:srgbClr val="B1C1D5"/>
                </a:solidFill>
                <a:latin typeface="Aptos"/>
              </a:rPr>
              <a:t>The prototype demonstrates how Amazon SNS distributes an event to multiple Amazon SQS queues, enabling decoupled and asynchronous message delivery.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617720"/>
            <a:ext cx="3200400" cy="914400"/>
          </a:xfrm>
          <a:prstGeom prst="roundRect">
            <a:avLst/>
          </a:prstGeom>
          <a:solidFill>
            <a:srgbClr val="15253F"/>
          </a:solidFill>
          <a:ln>
            <a:solidFill>
              <a:srgbClr val="FFA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709160"/>
            <a:ext cx="292608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FFA632"/>
                </a:solidFill>
                <a:latin typeface="Aptos"/>
              </a:rPr>
              <a:t>SNS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047488"/>
            <a:ext cx="292608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Distributes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4617720"/>
            <a:ext cx="3200400" cy="914400"/>
          </a:xfrm>
          <a:prstGeom prst="roundRect">
            <a:avLst/>
          </a:prstGeom>
          <a:solidFill>
            <a:srgbClr val="15253F"/>
          </a:solidFill>
          <a:ln>
            <a:solidFill>
              <a:srgbClr val="50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4709160"/>
            <a:ext cx="292608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50A4FF"/>
                </a:solidFill>
                <a:latin typeface="Aptos"/>
              </a:rPr>
              <a:t>SQS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5047488"/>
            <a:ext cx="292608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Buffers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17720"/>
            <a:ext cx="3200400" cy="914400"/>
          </a:xfrm>
          <a:prstGeom prst="roundRect">
            <a:avLst/>
          </a:prstGeom>
          <a:solidFill>
            <a:srgbClr val="15253F"/>
          </a:solidFill>
          <a:ln>
            <a:solidFill>
              <a:srgbClr val="3FC8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4709160"/>
            <a:ext cx="2926080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800" b="1">
                <a:solidFill>
                  <a:srgbClr val="3FC891"/>
                </a:solidFill>
                <a:latin typeface="Aptos"/>
              </a:rPr>
              <a:t>Queues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047488"/>
            <a:ext cx="292608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1200" b="0">
                <a:solidFill>
                  <a:srgbClr val="F5F8FC"/>
                </a:solidFill>
                <a:latin typeface="Aptos"/>
              </a:rPr>
              <a:t>Isolate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80760"/>
            <a:ext cx="987552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Thank you  •  Sai Sumit Panigrahi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