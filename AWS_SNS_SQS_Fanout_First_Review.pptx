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875520" y="548640"/>
            <a:ext cx="1188720" cy="1188720"/>
          </a:xfrm>
          <a:prstGeom prst="ellipse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1554480"/>
            <a:ext cx="640080" cy="640080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2011680"/>
            <a:ext cx="411480" cy="411480"/>
          </a:xfrm>
          <a:prstGeom prst="ellipse">
            <a:avLst/>
          </a:prstGeom>
          <a:solidFill>
            <a:srgbClr val="52A6FF"/>
          </a:solidFill>
          <a:ln>
            <a:solidFill>
              <a:srgbClr val="52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064240" y="2743200"/>
            <a:ext cx="914400" cy="914400"/>
          </a:xfrm>
          <a:prstGeom prst="ellipse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FA640"/>
                </a:solidFill>
                <a:latin typeface="Aptos"/>
              </a:rPr>
              <a:t>AWS SKILL PALAVER •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8869680" cy="1645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100" b="1">
                <a:solidFill>
                  <a:srgbClr val="F6F9FD"/>
                </a:solidFill>
                <a:latin typeface="Aptos"/>
              </a:rPr>
              <a:t>Amazon SQS &amp; SNS
Fan-Out for Event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80467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900" b="0">
                <a:solidFill>
                  <a:srgbClr val="AEBED3"/>
                </a:solidFill>
                <a:latin typeface="Aptos"/>
              </a:rPr>
              <a:t>One event. Multiple queues. Independent processing.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983480"/>
            <a:ext cx="5120640" cy="82296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102352"/>
            <a:ext cx="470916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F6F9FD"/>
                </a:solidFill>
                <a:latin typeface="Aptos"/>
              </a:rPr>
              <a:t>SAI SUMIT PANIGRAHI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394960"/>
            <a:ext cx="470916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B.Tech • AI &amp; Data Science</a:t>
            </a:r>
          </a:p>
        </p:txBody>
      </p:sp>
      <p:sp>
        <p:nvSpPr>
          <p:cNvPr id="12" name="Oval 11"/>
          <p:cNvSpPr/>
          <p:nvPr/>
        </p:nvSpPr>
        <p:spPr>
          <a:xfrm>
            <a:off x="9464040" y="4160520"/>
            <a:ext cx="1051560" cy="1051560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4160520"/>
            <a:ext cx="10515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0C1930"/>
                </a:solidFill>
                <a:latin typeface="Aptos"/>
              </a:rPr>
              <a:t>SNS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744200" y="2926080"/>
            <a:ext cx="1143000" cy="621792"/>
          </a:xfrm>
          <a:prstGeom prst="roundRect">
            <a:avLst/>
          </a:prstGeom>
          <a:solidFill>
            <a:srgbClr val="49C991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71632" y="2971800"/>
            <a:ext cx="1088136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C1930"/>
                </a:solidFill>
                <a:latin typeface="Aptos"/>
              </a:rPr>
              <a:t>SQS 01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0515600" y="3236976"/>
            <a:ext cx="228600" cy="1444752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0744200" y="4251960"/>
            <a:ext cx="1143000" cy="621792"/>
          </a:xfrm>
          <a:prstGeom prst="roundRect">
            <a:avLst/>
          </a:prstGeom>
          <a:solidFill>
            <a:srgbClr val="52A6FF"/>
          </a:solidFill>
          <a:ln>
            <a:solidFill>
              <a:srgbClr val="52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71632" y="4297680"/>
            <a:ext cx="1088136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C1930"/>
                </a:solidFill>
                <a:latin typeface="Aptos"/>
              </a:rPr>
              <a:t>SQS 02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0515600" y="4562856"/>
            <a:ext cx="228600" cy="118872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744200" y="5486400"/>
            <a:ext cx="1143000" cy="621792"/>
          </a:xfrm>
          <a:prstGeom prst="roundRect">
            <a:avLst/>
          </a:prstGeom>
          <a:solidFill>
            <a:srgbClr val="B487FF"/>
          </a:solidFill>
          <a:ln>
            <a:solidFill>
              <a:srgbClr val="B4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71632" y="5532120"/>
            <a:ext cx="1088136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C1930"/>
                </a:solidFill>
                <a:latin typeface="Aptos"/>
              </a:rPr>
              <a:t>SQS 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15600" y="4681728"/>
            <a:ext cx="228600" cy="1115568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6F9FD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A single business event can trigger work across multiple services.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85800" cy="41148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3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4937760" cy="406908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F8282"/>
                </a:solidFill>
                <a:latin typeface="Aptos"/>
              </a:rPr>
              <a:t>WITHOUT FAN-OUT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23160"/>
            <a:ext cx="4343400" cy="6858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F6F9FD"/>
                </a:solidFill>
                <a:latin typeface="Aptos"/>
              </a:rPr>
              <a:t>Order placed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54680" y="3108960"/>
            <a:ext cx="0" cy="201168"/>
          </a:xfrm>
          <a:prstGeom prst="line">
            <a:avLst/>
          </a:prstGeom>
          <a:ln w="19050">
            <a:solidFill>
              <a:srgbClr val="C5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417320" y="3429000"/>
            <a:ext cx="3474720" cy="530352"/>
          </a:xfrm>
          <a:prstGeom prst="roundRect">
            <a:avLst/>
          </a:prstGeom>
          <a:solidFill>
            <a:srgbClr val="453044"/>
          </a:solidFill>
          <a:ln>
            <a:solidFill>
              <a:srgbClr val="824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08760" y="3465576"/>
            <a:ext cx="3291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6F9FD"/>
                </a:solidFill>
                <a:latin typeface="Aptos"/>
              </a:rPr>
              <a:t>Inventory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54680" y="3108960"/>
            <a:ext cx="0" cy="1024128"/>
          </a:xfrm>
          <a:prstGeom prst="line">
            <a:avLst/>
          </a:prstGeom>
          <a:ln w="19050">
            <a:solidFill>
              <a:srgbClr val="C5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417320" y="4251960"/>
            <a:ext cx="3474720" cy="530352"/>
          </a:xfrm>
          <a:prstGeom prst="roundRect">
            <a:avLst/>
          </a:prstGeom>
          <a:solidFill>
            <a:srgbClr val="453044"/>
          </a:solidFill>
          <a:ln>
            <a:solidFill>
              <a:srgbClr val="824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4288536"/>
            <a:ext cx="3291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6F9FD"/>
                </a:solidFill>
                <a:latin typeface="Aptos"/>
              </a:rPr>
              <a:t>Shipping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54680" y="3108960"/>
            <a:ext cx="0" cy="1847088"/>
          </a:xfrm>
          <a:prstGeom prst="line">
            <a:avLst/>
          </a:prstGeom>
          <a:ln w="19050">
            <a:solidFill>
              <a:srgbClr val="C570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417320" y="5074920"/>
            <a:ext cx="3474720" cy="530352"/>
          </a:xfrm>
          <a:prstGeom prst="roundRect">
            <a:avLst/>
          </a:prstGeom>
          <a:solidFill>
            <a:srgbClr val="453044"/>
          </a:solidFill>
          <a:ln>
            <a:solidFill>
              <a:srgbClr val="824C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5111496"/>
            <a:ext cx="3291840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6F9FD"/>
                </a:solidFill>
                <a:latin typeface="Aptos"/>
              </a:rPr>
              <a:t>Customer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1783080"/>
            <a:ext cx="5486400" cy="4069080"/>
          </a:xfrm>
          <a:prstGeom prst="roundRect">
            <a:avLst/>
          </a:prstGeom>
          <a:solidFill>
            <a:srgbClr val="1B304E"/>
          </a:solidFill>
          <a:ln>
            <a:solidFill>
              <a:srgbClr val="1B3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01168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FA640"/>
                </a:solidFill>
                <a:latin typeface="Aptos"/>
              </a:rPr>
              <a:t>CHALLENGES</a:t>
            </a:r>
          </a:p>
        </p:txBody>
      </p:sp>
      <p:sp>
        <p:nvSpPr>
          <p:cNvPr id="20" name="Oval 19"/>
          <p:cNvSpPr/>
          <p:nvPr/>
        </p:nvSpPr>
        <p:spPr>
          <a:xfrm>
            <a:off x="6309360" y="2642616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2514600"/>
            <a:ext cx="4434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6F9FD"/>
                </a:solidFill>
                <a:latin typeface="Aptos"/>
              </a:rPr>
              <a:t>Tight coupling between services</a:t>
            </a:r>
          </a:p>
        </p:txBody>
      </p:sp>
      <p:sp>
        <p:nvSpPr>
          <p:cNvPr id="22" name="Oval 21"/>
          <p:cNvSpPr/>
          <p:nvPr/>
        </p:nvSpPr>
        <p:spPr>
          <a:xfrm>
            <a:off x="6309360" y="3355848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227832"/>
            <a:ext cx="4434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6F9FD"/>
                </a:solidFill>
                <a:latin typeface="Aptos"/>
              </a:rPr>
              <a:t>Slow or unavailable service can delay work</a:t>
            </a:r>
          </a:p>
        </p:txBody>
      </p:sp>
      <p:sp>
        <p:nvSpPr>
          <p:cNvPr id="24" name="Oval 23"/>
          <p:cNvSpPr/>
          <p:nvPr/>
        </p:nvSpPr>
        <p:spPr>
          <a:xfrm>
            <a:off x="6309360" y="4069080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941064"/>
            <a:ext cx="4434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6F9FD"/>
                </a:solidFill>
                <a:latin typeface="Aptos"/>
              </a:rPr>
              <a:t>Repeated integrations increase complexity</a:t>
            </a:r>
          </a:p>
        </p:txBody>
      </p:sp>
      <p:sp>
        <p:nvSpPr>
          <p:cNvPr id="26" name="Oval 25"/>
          <p:cNvSpPr/>
          <p:nvPr/>
        </p:nvSpPr>
        <p:spPr>
          <a:xfrm>
            <a:off x="6309360" y="4782312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654296"/>
            <a:ext cx="44348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F6F9FD"/>
                </a:solidFill>
                <a:latin typeface="Aptos"/>
              </a:rPr>
              <a:t>Harder to scale and isolate failures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126480"/>
            <a:ext cx="1069848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>
                <a:solidFill>
                  <a:srgbClr val="FFA640"/>
                </a:solidFill>
                <a:latin typeface="Aptos"/>
              </a:rPr>
              <a:t>Need: decouple event publishing from downstream processing.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6F9FD"/>
                </a:solidFill>
                <a:latin typeface="Aptos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Use SNS to distribute; use SQS to buffer and decouple.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85800" cy="41148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3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5029200" cy="338328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2194560"/>
            <a:ext cx="731520" cy="731520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194560"/>
            <a:ext cx="7315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0C1930"/>
                </a:solidFill>
                <a:latin typeface="Aptos"/>
              </a:rPr>
              <a:t>SNS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148840"/>
            <a:ext cx="3291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6F9FD"/>
                </a:solidFill>
                <a:latin typeface="Aptos"/>
              </a:rPr>
              <a:t>Amazon SNS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154680"/>
            <a:ext cx="4297680" cy="11430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F6F9FD"/>
                </a:solidFill>
                <a:latin typeface="Aptos"/>
              </a:rPr>
              <a:t>Publish–subscribe service
Sends one event to multiple subscribers.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572000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FFA640"/>
                </a:solidFill>
                <a:latin typeface="Aptos"/>
              </a:rPr>
              <a:t>ROLE  •  DISTRIBUTE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029200" cy="338328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75120" y="2194560"/>
            <a:ext cx="731520" cy="731520"/>
          </a:xfrm>
          <a:prstGeom prst="ellipse">
            <a:avLst/>
          </a:prstGeom>
          <a:solidFill>
            <a:srgbClr val="52A6FF"/>
          </a:solidFill>
          <a:ln>
            <a:solidFill>
              <a:srgbClr val="52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2194560"/>
            <a:ext cx="7315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0C1930"/>
                </a:solidFill>
                <a:latin typeface="Aptos"/>
              </a:rPr>
              <a:t>SQS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48840"/>
            <a:ext cx="329184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6F9FD"/>
                </a:solidFill>
                <a:latin typeface="Aptos"/>
              </a:rPr>
              <a:t>Amazon SQS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54680"/>
            <a:ext cx="4297680" cy="11430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800" b="0">
                <a:solidFill>
                  <a:srgbClr val="F6F9FD"/>
                </a:solidFill>
                <a:latin typeface="Aptos"/>
              </a:rPr>
              <a:t>Message queue service
Stores messages until consumers retrieve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572000"/>
            <a:ext cx="425196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1">
                <a:solidFill>
                  <a:srgbClr val="52A6FF"/>
                </a:solidFill>
                <a:latin typeface="Aptos"/>
              </a:rPr>
              <a:t>ROLE  •  BUFFER &amp; DELIVER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49C991"/>
                </a:solidFill>
                <a:latin typeface="Aptos"/>
              </a:rPr>
              <a:t>Together: asynchronous communication with independent consumers.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6F9FD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Illustrative e-commerce order event fan-out.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85800" cy="41148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3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691640"/>
            <a:ext cx="3291840" cy="713232"/>
          </a:xfrm>
          <a:prstGeom prst="roundRect">
            <a:avLst/>
          </a:prstGeom>
          <a:solidFill>
            <a:srgbClr val="2A3D5B"/>
          </a:solidFill>
          <a:ln>
            <a:solidFill>
              <a:srgbClr val="4D6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63440" y="1828800"/>
            <a:ext cx="438912" cy="438912"/>
          </a:xfrm>
          <a:prstGeom prst="ellipse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828800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0C1930"/>
                </a:solidFill>
                <a:latin typeface="Aptos"/>
              </a:rP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773936"/>
            <a:ext cx="2240280" cy="47548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6F9FD"/>
                </a:solidFill>
                <a:latin typeface="Aptos"/>
              </a:rPr>
              <a:t>Event producer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404872"/>
            <a:ext cx="0" cy="384048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977639" y="2788920"/>
            <a:ext cx="4206240" cy="841248"/>
          </a:xfrm>
          <a:prstGeom prst="roundRect">
            <a:avLst/>
          </a:prstGeom>
          <a:solidFill>
            <a:srgbClr val="4D362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60520" y="2880360"/>
            <a:ext cx="3840480" cy="6400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6F9FD"/>
                </a:solidFill>
                <a:latin typeface="Aptos"/>
              </a:rPr>
              <a:t>AMAZON SNS  •  OrderEvents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630168"/>
            <a:ext cx="0" cy="256032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331720" y="3886200"/>
            <a:ext cx="7498080" cy="0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331720" y="3886200"/>
            <a:ext cx="0" cy="301752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51560" y="4187952"/>
            <a:ext cx="2560320" cy="1325880"/>
          </a:xfrm>
          <a:prstGeom prst="roundRect">
            <a:avLst/>
          </a:prstGeom>
          <a:solidFill>
            <a:srgbClr val="142745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19" y="4315968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49C991"/>
                </a:solidFill>
                <a:latin typeface="Aptos"/>
              </a:rPr>
              <a:t>SQS QUEUE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19" y="4645152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6F9FD"/>
                </a:solidFill>
                <a:latin typeface="Aptos"/>
              </a:rPr>
              <a:t>Inventory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502920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AEBED3"/>
                </a:solidFill>
                <a:latin typeface="Aptos"/>
              </a:rPr>
              <a:t>Update stock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852160" y="3886200"/>
            <a:ext cx="0" cy="301752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572000" y="4187952"/>
            <a:ext cx="2560320" cy="1325880"/>
          </a:xfrm>
          <a:prstGeom prst="roundRect">
            <a:avLst/>
          </a:prstGeom>
          <a:solidFill>
            <a:srgbClr val="142745"/>
          </a:solidFill>
          <a:ln>
            <a:solidFill>
              <a:srgbClr val="52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9160" y="4315968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52A6FF"/>
                </a:solidFill>
                <a:latin typeface="Aptos"/>
              </a:rPr>
              <a:t>SQS QUEUE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4645152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6F9FD"/>
                </a:solidFill>
                <a:latin typeface="Aptos"/>
              </a:rPr>
              <a:t>Shipping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502920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AEBED3"/>
                </a:solidFill>
                <a:latin typeface="Aptos"/>
              </a:rPr>
              <a:t>Prepare delivery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3886200"/>
            <a:ext cx="0" cy="301752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092440" y="4187952"/>
            <a:ext cx="2560320" cy="1325880"/>
          </a:xfrm>
          <a:prstGeom prst="roundRect">
            <a:avLst/>
          </a:prstGeom>
          <a:solidFill>
            <a:srgbClr val="142745"/>
          </a:solidFill>
          <a:ln>
            <a:solidFill>
              <a:srgbClr val="B4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4315968"/>
            <a:ext cx="2286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>
                <a:solidFill>
                  <a:srgbClr val="B487FF"/>
                </a:solidFill>
                <a:latin typeface="Aptos"/>
              </a:rPr>
              <a:t>SQS QUEUE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45152"/>
            <a:ext cx="228600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F6F9FD"/>
                </a:solidFill>
                <a:latin typeface="Aptos"/>
              </a:rPr>
              <a:t>Notifications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029200"/>
            <a:ext cx="22860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0">
                <a:solidFill>
                  <a:srgbClr val="AEBED3"/>
                </a:solidFill>
                <a:latin typeface="Aptos"/>
              </a:rPr>
              <a:t>Confirm 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897880"/>
            <a:ext cx="101498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400" b="0">
                <a:solidFill>
                  <a:srgbClr val="AEBED3"/>
                </a:solidFill>
                <a:latin typeface="Aptos"/>
              </a:rPr>
              <a:t>Each queue receives its own message copy and is processed independently.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6F9FD"/>
                </a:solidFill>
                <a:latin typeface="Aptos"/>
              </a:rPr>
              <a:t>How the event flows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A simple publish → distribute → consume workflow.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85800" cy="41148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3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48840"/>
            <a:ext cx="2514600" cy="228600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02920" cy="502920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C1930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2724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6F9FD"/>
                </a:solidFill>
                <a:latin typeface="Aptos"/>
              </a:rPr>
              <a:t>Create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675887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ED3"/>
                </a:solidFill>
                <a:latin typeface="Aptos"/>
              </a:rPr>
              <a:t>Producer creates an order event.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7832" y="3246120"/>
            <a:ext cx="274320" cy="0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236976" y="3008376"/>
            <a:ext cx="25603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FFA640"/>
                </a:solidFill>
                <a:latin typeface="Aptos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2148840"/>
            <a:ext cx="2514600" cy="228600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49039" y="2423160"/>
            <a:ext cx="502920" cy="502920"/>
          </a:xfrm>
          <a:prstGeom prst="ellipse">
            <a:avLst/>
          </a:prstGeom>
          <a:solidFill>
            <a:srgbClr val="52A6FF"/>
          </a:solidFill>
          <a:ln>
            <a:solidFill>
              <a:srgbClr val="52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242316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C1930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312724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6F9FD"/>
                </a:solidFill>
                <a:latin typeface="Aptos"/>
              </a:rPr>
              <a:t>Publish to SNS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675887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ED3"/>
                </a:solidFill>
                <a:latin typeface="Aptos"/>
              </a:rPr>
              <a:t>Event is sent to OrderEvents topic.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8192" y="3246120"/>
            <a:ext cx="274320" cy="0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117336" y="3008376"/>
            <a:ext cx="25603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FFA640"/>
                </a:solidFill>
                <a:latin typeface="Aptos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148840"/>
            <a:ext cx="2514600" cy="228600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2423160"/>
            <a:ext cx="502920" cy="502920"/>
          </a:xfrm>
          <a:prstGeom prst="ellipse">
            <a:avLst/>
          </a:prstGeom>
          <a:solidFill>
            <a:srgbClr val="49C991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242316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C1930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12724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6F9FD"/>
                </a:solidFill>
                <a:latin typeface="Aptos"/>
              </a:rPr>
              <a:t>Fan-out to SQS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75887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ED3"/>
                </a:solidFill>
                <a:latin typeface="Aptos"/>
              </a:rPr>
              <a:t>SNS delivers to each subscribed queue.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988552" y="3246120"/>
            <a:ext cx="274320" cy="0"/>
          </a:xfrm>
          <a:prstGeom prst="line">
            <a:avLst/>
          </a:prstGeom>
          <a:ln w="2540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997696" y="3008376"/>
            <a:ext cx="256032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400" b="1">
                <a:solidFill>
                  <a:srgbClr val="FFA640"/>
                </a:solidFill>
                <a:latin typeface="Aptos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26880" y="2148840"/>
            <a:ext cx="2514600" cy="228600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509759" y="2423160"/>
            <a:ext cx="502920" cy="502920"/>
          </a:xfrm>
          <a:prstGeom prst="ellipse">
            <a:avLst/>
          </a:prstGeom>
          <a:solidFill>
            <a:srgbClr val="B487FF"/>
          </a:solidFill>
          <a:ln>
            <a:solidFill>
              <a:srgbClr val="B48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9" y="2423160"/>
            <a:ext cx="502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0C1930"/>
                </a:solidFill>
                <a:latin typeface="Apto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59" y="3127248"/>
            <a:ext cx="21488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700" b="1">
                <a:solidFill>
                  <a:srgbClr val="F6F9FD"/>
                </a:solidFill>
                <a:latin typeface="Aptos"/>
              </a:rPr>
              <a:t>Process message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59" y="3675887"/>
            <a:ext cx="2148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AEBED3"/>
                </a:solidFill>
                <a:latin typeface="Aptos"/>
              </a:rPr>
              <a:t>Each consumer retrieves its queue message.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983480"/>
            <a:ext cx="10332720" cy="777240"/>
          </a:xfrm>
          <a:prstGeom prst="roundRect">
            <a:avLst/>
          </a:prstGeom>
          <a:solidFill>
            <a:srgbClr val="193F3D"/>
          </a:solidFill>
          <a:ln>
            <a:solidFill>
              <a:srgbClr val="2F7B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102352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700" b="1">
                <a:solidFill>
                  <a:srgbClr val="49C991"/>
                </a:solidFill>
                <a:latin typeface="Aptos"/>
              </a:rPr>
              <a:t>Key idea: the producer does not wait for every consumer to finish.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6F9FD"/>
                </a:solidFill>
                <a:latin typeface="Aptos"/>
              </a:rPr>
              <a:t>Implementation in AWS Academy Learner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Initial prototype: configure resources in the AWS Management Console.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85800" cy="41148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3"/>
                </a:solidFill>
                <a:latin typeface="Aptos"/>
              </a:rPr>
              <a:t>06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737360"/>
            <a:ext cx="438912" cy="438912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C1930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19072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6F9FD"/>
                </a:solidFill>
                <a:latin typeface="Aptos"/>
              </a:rPr>
              <a:t>Start Learner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719072"/>
            <a:ext cx="69494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AEBED3"/>
                </a:solidFill>
                <a:latin typeface="Aptos"/>
              </a:rPr>
              <a:t>Open AWS Console and choose one region.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88136" y="2194560"/>
            <a:ext cx="0" cy="292608"/>
          </a:xfrm>
          <a:prstGeom prst="line">
            <a:avLst/>
          </a:prstGeom>
          <a:ln w="1905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68680" y="2569464"/>
            <a:ext cx="438912" cy="438912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69464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C193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51176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6F9FD"/>
                </a:solidFill>
                <a:latin typeface="Aptos"/>
              </a:rPr>
              <a:t>Create SNS topic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551176"/>
            <a:ext cx="69494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AEBED3"/>
                </a:solidFill>
                <a:latin typeface="Aptos"/>
              </a:rPr>
              <a:t>Create a Standard topic: OrderEvents.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88136" y="3026664"/>
            <a:ext cx="0" cy="292608"/>
          </a:xfrm>
          <a:prstGeom prst="line">
            <a:avLst/>
          </a:prstGeom>
          <a:ln w="1905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68680" y="3401568"/>
            <a:ext cx="438912" cy="438912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401568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C1930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383279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6F9FD"/>
                </a:solidFill>
                <a:latin typeface="Aptos"/>
              </a:rPr>
              <a:t>Create 3 SQS queues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3383279"/>
            <a:ext cx="69494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AEBED3"/>
                </a:solidFill>
                <a:latin typeface="Aptos"/>
              </a:rPr>
              <a:t>InventoryQueue, ShippingQueue, NotificationQueue.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88136" y="3858768"/>
            <a:ext cx="0" cy="292608"/>
          </a:xfrm>
          <a:prstGeom prst="line">
            <a:avLst/>
          </a:prstGeom>
          <a:ln w="1905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68680" y="4233672"/>
            <a:ext cx="438912" cy="438912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233672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C1930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15384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6F9FD"/>
                </a:solidFill>
                <a:latin typeface="Aptos"/>
              </a:rPr>
              <a:t>Subscribe queues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4215384"/>
            <a:ext cx="69494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AEBED3"/>
                </a:solidFill>
                <a:latin typeface="Aptos"/>
              </a:rPr>
              <a:t>Connect each queue to the SNS topic; verify access policy.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88136" y="4690872"/>
            <a:ext cx="0" cy="292608"/>
          </a:xfrm>
          <a:prstGeom prst="line">
            <a:avLst/>
          </a:prstGeom>
          <a:ln w="19050">
            <a:solidFill>
              <a:srgbClr val="4D67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868680" y="5065776"/>
            <a:ext cx="438912" cy="438912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65776"/>
            <a:ext cx="438912" cy="43891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>
                <a:solidFill>
                  <a:srgbClr val="0C1930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47488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600" b="1">
                <a:solidFill>
                  <a:srgbClr val="F6F9FD"/>
                </a:solidFill>
                <a:latin typeface="Aptos"/>
              </a:rPr>
              <a:t>Test fan-out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0" y="5047488"/>
            <a:ext cx="6949440" cy="4572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AEBED3"/>
                </a:solidFill>
                <a:latin typeface="Aptos"/>
              </a:rPr>
              <a:t>Publish sample JSON and poll each queue.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989320"/>
            <a:ext cx="10241280" cy="365760"/>
          </a:xfrm>
          <a:prstGeom prst="roundRect">
            <a:avLst/>
          </a:prstGeom>
          <a:solidFill>
            <a:srgbClr val="3A3021"/>
          </a:solidFill>
          <a:ln>
            <a:solidFill>
              <a:srgbClr val="6F55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998464"/>
            <a:ext cx="10058400" cy="32918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200" b="1">
                <a:solidFill>
                  <a:srgbClr val="FFA640"/>
                </a:solidFill>
                <a:latin typeface="Aptos"/>
              </a:rPr>
              <a:t>Prototype validation: one published event should appear in all 3 queues.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700" b="1">
                <a:solidFill>
                  <a:srgbClr val="F6F9FD"/>
                </a:solidFill>
                <a:latin typeface="Aptos"/>
              </a:rPr>
              <a:t>Benefits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6984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Build the core fan-out first; extend after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685800" cy="41148"/>
          </a:xfrm>
          <a:prstGeom prst="rect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AEBED3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25196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01168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49C991"/>
                </a:solidFill>
                <a:latin typeface="Aptos"/>
              </a:rPr>
              <a:t>EXPECTED BENEFITS</a:t>
            </a:r>
          </a:p>
        </p:txBody>
      </p:sp>
      <p:sp>
        <p:nvSpPr>
          <p:cNvPr id="8" name="Oval 7"/>
          <p:cNvSpPr/>
          <p:nvPr/>
        </p:nvSpPr>
        <p:spPr>
          <a:xfrm>
            <a:off x="1051560" y="2642616"/>
            <a:ext cx="100584" cy="100584"/>
          </a:xfrm>
          <a:prstGeom prst="ellipse">
            <a:avLst/>
          </a:prstGeom>
          <a:solidFill>
            <a:srgbClr val="49C991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514600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Loose coupling</a:t>
            </a:r>
          </a:p>
        </p:txBody>
      </p:sp>
      <p:sp>
        <p:nvSpPr>
          <p:cNvPr id="10" name="Oval 9"/>
          <p:cNvSpPr/>
          <p:nvPr/>
        </p:nvSpPr>
        <p:spPr>
          <a:xfrm>
            <a:off x="1051560" y="3337560"/>
            <a:ext cx="100584" cy="100584"/>
          </a:xfrm>
          <a:prstGeom prst="ellipse">
            <a:avLst/>
          </a:prstGeom>
          <a:solidFill>
            <a:srgbClr val="49C991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209544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Asynchronous processing</a:t>
            </a:r>
          </a:p>
        </p:txBody>
      </p:sp>
      <p:sp>
        <p:nvSpPr>
          <p:cNvPr id="12" name="Oval 11"/>
          <p:cNvSpPr/>
          <p:nvPr/>
        </p:nvSpPr>
        <p:spPr>
          <a:xfrm>
            <a:off x="1051560" y="4032503"/>
            <a:ext cx="100584" cy="100584"/>
          </a:xfrm>
          <a:prstGeom prst="ellipse">
            <a:avLst/>
          </a:prstGeom>
          <a:solidFill>
            <a:srgbClr val="49C991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3904487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Independent consumer scaling</a:t>
            </a:r>
          </a:p>
        </p:txBody>
      </p:sp>
      <p:sp>
        <p:nvSpPr>
          <p:cNvPr id="14" name="Oval 13"/>
          <p:cNvSpPr/>
          <p:nvPr/>
        </p:nvSpPr>
        <p:spPr>
          <a:xfrm>
            <a:off x="1051560" y="4727448"/>
            <a:ext cx="100584" cy="100584"/>
          </a:xfrm>
          <a:prstGeom prst="ellipse">
            <a:avLst/>
          </a:prstGeom>
          <a:solidFill>
            <a:srgbClr val="49C991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599432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Improved fault isolation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737360"/>
            <a:ext cx="5166360" cy="4251960"/>
          </a:xfrm>
          <a:prstGeom prst="roundRect">
            <a:avLst/>
          </a:prstGeom>
          <a:solidFill>
            <a:srgbClr val="142745"/>
          </a:solidFill>
          <a:ln>
            <a:solidFill>
              <a:srgbClr val="1427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FA640"/>
                </a:solidFill>
                <a:latin typeface="Aptos"/>
              </a:rPr>
              <a:t>FUTURE ENHANCEMENTS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642616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514600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AWS Lambda for automated processing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0" y="3337560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3209544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Dead-letter queues for failed messages</a:t>
            </a:r>
          </a:p>
        </p:txBody>
      </p:sp>
      <p:sp>
        <p:nvSpPr>
          <p:cNvPr id="22" name="Oval 21"/>
          <p:cNvSpPr/>
          <p:nvPr/>
        </p:nvSpPr>
        <p:spPr>
          <a:xfrm>
            <a:off x="6583680" y="4032503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3904487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CloudWatch for monitoring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4727448"/>
            <a:ext cx="100584" cy="100584"/>
          </a:xfrm>
          <a:prstGeom prst="ellipse">
            <a:avLst/>
          </a:prstGeom>
          <a:solidFill>
            <a:srgbClr val="FFA640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4599432"/>
            <a:ext cx="4206240" cy="42062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F6F9FD"/>
                </a:solidFill>
                <a:latin typeface="Aptos"/>
              </a:rPr>
              <a:t>Filtering for event-specific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217920"/>
            <a:ext cx="10332720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Note: These are design goals; reliability also depends on queue configuration and consumer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31520"/>
            <a:ext cx="365760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000" b="1">
                <a:solidFill>
                  <a:srgbClr val="FFA640"/>
                </a:solidFill>
                <a:latin typeface="Aptos"/>
              </a:rPr>
              <a:t>FIRST REVIEW •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325880"/>
            <a:ext cx="987552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3200" b="1">
                <a:solidFill>
                  <a:srgbClr val="F6F9FD"/>
                </a:solidFill>
                <a:latin typeface="Aptos"/>
              </a:rPr>
              <a:t>One event. Multiple queues.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12848"/>
            <a:ext cx="96926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000" b="0">
                <a:solidFill>
                  <a:srgbClr val="AEBED3"/>
                </a:solidFill>
                <a:latin typeface="Aptos"/>
              </a:rPr>
              <a:t>SNS distributes the event. SQS buffers it. Independent consumers process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657600"/>
            <a:ext cx="3246120" cy="1143000"/>
          </a:xfrm>
          <a:prstGeom prst="roundRect">
            <a:avLst/>
          </a:prstGeom>
          <a:solidFill>
            <a:srgbClr val="142745"/>
          </a:solidFill>
          <a:ln>
            <a:solidFill>
              <a:srgbClr val="FFA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FFA640"/>
                </a:solidFill>
                <a:latin typeface="Aptos"/>
              </a:rPr>
              <a:t>SNS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224528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F6F9FD"/>
                </a:solidFill>
                <a:latin typeface="Aptos"/>
              </a:rPr>
              <a:t>Distributes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657600"/>
            <a:ext cx="3246120" cy="1143000"/>
          </a:xfrm>
          <a:prstGeom prst="roundRect">
            <a:avLst/>
          </a:prstGeom>
          <a:solidFill>
            <a:srgbClr val="142745"/>
          </a:solidFill>
          <a:ln>
            <a:solidFill>
              <a:srgbClr val="52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0" y="3794760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52A6FF"/>
                </a:solidFill>
                <a:latin typeface="Aptos"/>
              </a:rPr>
              <a:t>SQS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4224528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F6F9FD"/>
                </a:solidFill>
                <a:latin typeface="Aptos"/>
              </a:rPr>
              <a:t>Stores &amp; delivers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657600"/>
            <a:ext cx="3246120" cy="1143000"/>
          </a:xfrm>
          <a:prstGeom prst="roundRect">
            <a:avLst/>
          </a:prstGeom>
          <a:solidFill>
            <a:srgbClr val="142745"/>
          </a:solidFill>
          <a:ln>
            <a:solidFill>
              <a:srgbClr val="49C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19" y="3794760"/>
            <a:ext cx="288036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000" b="1">
                <a:solidFill>
                  <a:srgbClr val="49C991"/>
                </a:solidFill>
                <a:latin typeface="Aptos"/>
              </a:rPr>
              <a:t>Consumers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19" y="4224528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0">
                <a:solidFill>
                  <a:srgbClr val="F6F9FD"/>
                </a:solidFill>
                <a:latin typeface="Aptos"/>
              </a:rPr>
              <a:t>Process independently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71500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200" b="1">
                <a:solidFill>
                  <a:srgbClr val="F6F9FD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99632"/>
            <a:ext cx="9875520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100" b="0">
                <a:solidFill>
                  <a:srgbClr val="AEBED3"/>
                </a:solidFill>
                <a:latin typeface="Aptos"/>
              </a:rPr>
              <a:t>Sai Sumit Panigrahi  •  AI &amp; Data Science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